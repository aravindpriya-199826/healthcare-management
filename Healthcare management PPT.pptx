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3" r:id="rId1"/>
  </p:sldMasterIdLst>
  <p:sldIdLst>
    <p:sldId id="256" r:id="rId2"/>
    <p:sldId id="257" r:id="rId3"/>
    <p:sldId id="258" r:id="rId4"/>
    <p:sldId id="259" r:id="rId5"/>
    <p:sldId id="283" r:id="rId6"/>
    <p:sldId id="260" r:id="rId7"/>
    <p:sldId id="272" r:id="rId8"/>
    <p:sldId id="282" r:id="rId9"/>
    <p:sldId id="269" r:id="rId10"/>
    <p:sldId id="280" r:id="rId11"/>
    <p:sldId id="279" r:id="rId12"/>
    <p:sldId id="27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3/16/2026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9448718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0565657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3047737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6491322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8443245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165314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334441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8777777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814230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90783762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6760223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5863985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5093603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3/16/2026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9636672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3/16/2026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89872946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493053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7190540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3/16/2026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600314191"/>
      </p:ext>
    </p:extLst>
  </p:cSld>
  <p:clrMap bg1="dk1" tx1="lt1" bg2="dk2" tx2="lt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Lst>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6424" y="824248"/>
            <a:ext cx="8903193" cy="785612"/>
          </a:xfrm>
        </p:spPr>
        <p:txBody>
          <a:bodyPr>
            <a:normAutofit/>
          </a:bodyPr>
          <a:lstStyle/>
          <a:p>
            <a:pPr algn="ctr"/>
            <a:r>
              <a:rPr lang="en-US" dirty="0" smtClean="0">
                <a:latin typeface="Algerian" panose="04020705040A02060702" pitchFamily="82" charset="0"/>
              </a:rPr>
              <a:t>HEALTHCARE MANAGEMENT</a:t>
            </a:r>
            <a:endParaRPr lang="en-IN" dirty="0">
              <a:latin typeface="Algerian" panose="04020705040A02060702" pitchFamily="82" charset="0"/>
            </a:endParaRPr>
          </a:p>
        </p:txBody>
      </p:sp>
      <p:sp>
        <p:nvSpPr>
          <p:cNvPr id="3" name="Subtitle 2"/>
          <p:cNvSpPr>
            <a:spLocks noGrp="1"/>
          </p:cNvSpPr>
          <p:nvPr>
            <p:ph type="subTitle" idx="1"/>
          </p:nvPr>
        </p:nvSpPr>
        <p:spPr/>
        <p:txBody>
          <a:bodyPr>
            <a:normAutofit/>
          </a:bodyPr>
          <a:lstStyle/>
          <a:p>
            <a:pPr algn="r"/>
            <a:r>
              <a:rPr lang="en-US" sz="1800" b="1" dirty="0" smtClean="0">
                <a:solidFill>
                  <a:schemeClr val="tx1"/>
                </a:solidFill>
                <a:latin typeface="Times New Roman" panose="02020603050405020304" pitchFamily="18" charset="0"/>
                <a:cs typeface="Times New Roman" panose="02020603050405020304" pitchFamily="18" charset="0"/>
              </a:rPr>
              <a:t>By</a:t>
            </a:r>
          </a:p>
          <a:p>
            <a:pPr algn="r"/>
            <a:r>
              <a:rPr lang="en-US" sz="1800" b="1" dirty="0" err="1" smtClean="0">
                <a:solidFill>
                  <a:schemeClr val="tx1"/>
                </a:solidFill>
                <a:latin typeface="Times New Roman" panose="02020603050405020304" pitchFamily="18" charset="0"/>
                <a:cs typeface="Times New Roman" panose="02020603050405020304" pitchFamily="18" charset="0"/>
              </a:rPr>
              <a:t>SaraVANAPRIYA.D</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r"/>
            <a:r>
              <a:rPr lang="en-US" sz="1800" b="1" dirty="0" smtClean="0">
                <a:solidFill>
                  <a:schemeClr val="tx1"/>
                </a:solidFill>
                <a:latin typeface="Times New Roman" panose="02020603050405020304" pitchFamily="18" charset="0"/>
                <a:cs typeface="Times New Roman" panose="02020603050405020304" pitchFamily="18" charset="0"/>
              </a:rPr>
              <a:t>DATA  ANALYTICS</a:t>
            </a:r>
            <a:endParaRPr lang="en-IN" sz="1800"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8949" t="30009" r="29450" b="28975"/>
          <a:stretch/>
        </p:blipFill>
        <p:spPr>
          <a:xfrm>
            <a:off x="502278" y="2524259"/>
            <a:ext cx="5190186" cy="294926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85561162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AIM:-</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The main objective of this project is to analyze the given dataset, perform data cleaning using SQL, perform Derived metrics using SQL, to import into Power BI Desktop for making interactive dashboard, derive suitable DAX </a:t>
            </a:r>
            <a:r>
              <a:rPr lang="en-US" dirty="0" smtClean="0">
                <a:latin typeface="Times New Roman" panose="02020603050405020304" pitchFamily="18" charset="0"/>
                <a:cs typeface="Times New Roman" panose="02020603050405020304" pitchFamily="18" charset="0"/>
              </a:rPr>
              <a:t>formulae.</a:t>
            </a:r>
          </a:p>
          <a:p>
            <a:r>
              <a:rPr lang="en-US" dirty="0" smtClean="0">
                <a:latin typeface="Times New Roman" panose="02020603050405020304" pitchFamily="18" charset="0"/>
                <a:cs typeface="Times New Roman" panose="02020603050405020304" pitchFamily="18" charset="0"/>
              </a:rPr>
              <a:t>It is also used  </a:t>
            </a:r>
            <a:r>
              <a:rPr lang="en-US" dirty="0">
                <a:latin typeface="Times New Roman" panose="02020603050405020304" pitchFamily="18" charset="0"/>
                <a:cs typeface="Times New Roman" panose="02020603050405020304" pitchFamily="18" charset="0"/>
              </a:rPr>
              <a:t>to create meaningful clinical insights for better healthcare analysis.</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92392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nSpc>
                <a:spcPct val="150000"/>
              </a:lnSpc>
            </a:pPr>
            <a:r>
              <a:rPr lang="en-US" dirty="0" smtClean="0">
                <a:latin typeface="Times New Roman" panose="02020603050405020304" pitchFamily="18" charset="0"/>
                <a:cs typeface="Times New Roman" panose="02020603050405020304" pitchFamily="18" charset="0"/>
              </a:rPr>
              <a:t>The dataset is taken from </a:t>
            </a:r>
            <a:r>
              <a:rPr lang="en-IN" dirty="0" smtClean="0">
                <a:latin typeface="Times New Roman" panose="02020603050405020304" pitchFamily="18" charset="0"/>
                <a:cs typeface="Times New Roman" panose="02020603050405020304" pitchFamily="18" charset="0"/>
              </a:rPr>
              <a:t> (MOCKAROO.COM/datasets).</a:t>
            </a:r>
          </a:p>
          <a:p>
            <a:pPr>
              <a:lnSpc>
                <a:spcPct val="150000"/>
              </a:lnSpc>
            </a:pPr>
            <a:r>
              <a:rPr lang="en-US" sz="2200" dirty="0">
                <a:latin typeface="Times New Roman" panose="02020603050405020304" pitchFamily="18" charset="0"/>
                <a:cs typeface="Times New Roman" panose="02020603050405020304" pitchFamily="18" charset="0"/>
              </a:rPr>
              <a:t>Analyzing this dataset, we can understand the Total </a:t>
            </a:r>
            <a:r>
              <a:rPr lang="en-US" sz="2200" dirty="0" smtClean="0">
                <a:latin typeface="Times New Roman" panose="02020603050405020304" pitchFamily="18" charset="0"/>
                <a:cs typeface="Times New Roman" panose="02020603050405020304" pitchFamily="18" charset="0"/>
              </a:rPr>
              <a:t>patient </a:t>
            </a:r>
            <a:r>
              <a:rPr lang="en-US" sz="2200" dirty="0">
                <a:latin typeface="Times New Roman" panose="02020603050405020304" pitchFamily="18" charset="0"/>
                <a:cs typeface="Times New Roman" panose="02020603050405020304" pitchFamily="18" charset="0"/>
              </a:rPr>
              <a:t>appointments, Hospital capacity, Doctors workload per </a:t>
            </a:r>
            <a:r>
              <a:rPr lang="en-US" sz="2200" dirty="0" smtClean="0">
                <a:latin typeface="Times New Roman" panose="02020603050405020304" pitchFamily="18" charset="0"/>
                <a:cs typeface="Times New Roman" panose="02020603050405020304" pitchFamily="18" charset="0"/>
              </a:rPr>
              <a:t>patient, </a:t>
            </a:r>
            <a:r>
              <a:rPr lang="en-US" sz="2200" dirty="0">
                <a:latin typeface="Times New Roman" panose="02020603050405020304" pitchFamily="18" charset="0"/>
                <a:cs typeface="Times New Roman" panose="02020603050405020304" pitchFamily="18" charset="0"/>
              </a:rPr>
              <a:t>Insurance coverage and clinical insights which will be more helpful for better healthcare management</a:t>
            </a:r>
            <a:r>
              <a:rPr lang="en-US" sz="2200" dirty="0" smtClean="0">
                <a:latin typeface="Times New Roman" panose="02020603050405020304" pitchFamily="18" charset="0"/>
                <a:cs typeface="Times New Roman" panose="02020603050405020304" pitchFamily="18" charset="0"/>
              </a:rPr>
              <a:t>.</a:t>
            </a:r>
          </a:p>
          <a:p>
            <a:pPr>
              <a:lnSpc>
                <a:spcPct val="150000"/>
              </a:lnSpc>
            </a:pPr>
            <a:r>
              <a:rPr lang="en-US" sz="2200" dirty="0" smtClean="0">
                <a:latin typeface="Times New Roman" panose="02020603050405020304" pitchFamily="18" charset="0"/>
                <a:cs typeface="Times New Roman" panose="02020603050405020304" pitchFamily="18" charset="0"/>
              </a:rPr>
              <a:t>Data visualizations are done using Power BI Desktop.</a:t>
            </a:r>
            <a:endParaRPr lang="en-IN" sz="2200" dirty="0">
              <a:latin typeface="Times New Roman" panose="02020603050405020304" pitchFamily="18" charset="0"/>
              <a:cs typeface="Times New Roman" panose="02020603050405020304" pitchFamily="18" charset="0"/>
            </a:endParaRPr>
          </a:p>
          <a:p>
            <a:pPr>
              <a:lnSpc>
                <a:spcPct val="150000"/>
              </a:lnSpc>
            </a:pPr>
            <a:endParaRPr lang="en-IN" sz="22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454013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51260" y="257576"/>
            <a:ext cx="9905998" cy="721217"/>
          </a:xfrm>
        </p:spPr>
        <p:txBody>
          <a:bodyPr/>
          <a:lstStyle/>
          <a:p>
            <a:r>
              <a:rPr lang="en-US" b="1" dirty="0" smtClean="0">
                <a:latin typeface="Times New Roman" panose="02020603050405020304" pitchFamily="18" charset="0"/>
                <a:cs typeface="Times New Roman" panose="02020603050405020304" pitchFamily="18" charset="0"/>
              </a:rPr>
              <a:t>Dataset before cleaning:-</a:t>
            </a:r>
            <a:endParaRPr lang="en-IN" b="1" dirty="0">
              <a:latin typeface="Times New Roman" panose="02020603050405020304" pitchFamily="18" charset="0"/>
              <a:cs typeface="Times New Roman" panose="02020603050405020304" pitchFamily="18" charset="0"/>
            </a:endParaRPr>
          </a:p>
        </p:txBody>
      </p:sp>
      <p:pic>
        <p:nvPicPr>
          <p:cNvPr id="5" name="Content Placeholder 4"/>
          <p:cNvPicPr>
            <a:picLocks noGrp="1"/>
          </p:cNvPicPr>
          <p:nvPr>
            <p:ph idx="1"/>
          </p:nvPr>
        </p:nvPicPr>
        <p:blipFill rotWithShape="1">
          <a:blip r:embed="rId2">
            <a:extLst>
              <a:ext uri="{28A0092B-C50C-407E-A947-70E740481C1C}">
                <a14:useLocalDpi xmlns:a14="http://schemas.microsoft.com/office/drawing/2010/main" val="0"/>
              </a:ext>
            </a:extLst>
          </a:blip>
          <a:srcRect t="3397" r="27694" b="7554"/>
          <a:stretch/>
        </p:blipFill>
        <p:spPr bwMode="auto">
          <a:xfrm>
            <a:off x="1300766" y="1339403"/>
            <a:ext cx="8152327" cy="507427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051679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DATASET AFTER CLEANING:</a:t>
            </a:r>
            <a:endParaRPr lang="en-IN" b="1"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1413" y="1918953"/>
            <a:ext cx="9238959" cy="4649272"/>
          </a:xfrm>
        </p:spPr>
      </p:pic>
    </p:spTree>
    <p:extLst>
      <p:ext uri="{BB962C8B-B14F-4D97-AF65-F5344CB8AC3E}">
        <p14:creationId xmlns:p14="http://schemas.microsoft.com/office/powerpoint/2010/main" val="381883216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DATASET CLEANING process:-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40000" lnSpcReduction="20000"/>
          </a:bodyPr>
          <a:lstStyle/>
          <a:p>
            <a:pPr lvl="0"/>
            <a:r>
              <a:rPr lang="en-US" dirty="0">
                <a:latin typeface="Times New Roman" panose="02020603050405020304" pitchFamily="18" charset="0"/>
                <a:cs typeface="Times New Roman" panose="02020603050405020304" pitchFamily="18" charset="0"/>
              </a:rPr>
              <a:t> </a:t>
            </a:r>
            <a:r>
              <a:rPr lang="en-US" sz="5000" dirty="0">
                <a:latin typeface="Times New Roman" panose="02020603050405020304" pitchFamily="18" charset="0"/>
                <a:cs typeface="Times New Roman" panose="02020603050405020304" pitchFamily="18" charset="0"/>
              </a:rPr>
              <a:t>The </a:t>
            </a:r>
            <a:r>
              <a:rPr lang="en-US" sz="5000" dirty="0" smtClean="0">
                <a:latin typeface="Times New Roman" panose="02020603050405020304" pitchFamily="18" charset="0"/>
                <a:cs typeface="Times New Roman" panose="02020603050405020304" pitchFamily="18" charset="0"/>
              </a:rPr>
              <a:t>raw data had been </a:t>
            </a:r>
            <a:r>
              <a:rPr lang="en-US" sz="5000" dirty="0" smtClean="0">
                <a:latin typeface="Times New Roman" panose="02020603050405020304" pitchFamily="18" charset="0"/>
                <a:cs typeface="Times New Roman" panose="02020603050405020304" pitchFamily="18" charset="0"/>
              </a:rPr>
              <a:t>analyzed using excel </a:t>
            </a:r>
            <a:r>
              <a:rPr lang="en-US" sz="5000" dirty="0" smtClean="0">
                <a:latin typeface="Times New Roman" panose="02020603050405020304" pitchFamily="18" charset="0"/>
                <a:cs typeface="Times New Roman" panose="02020603050405020304" pitchFamily="18" charset="0"/>
              </a:rPr>
              <a:t>and cleaned using SQL.</a:t>
            </a:r>
          </a:p>
          <a:p>
            <a:pPr lvl="0"/>
            <a:r>
              <a:rPr lang="en-US" sz="5000" dirty="0" smtClean="0">
                <a:latin typeface="Times New Roman" panose="02020603050405020304" pitchFamily="18" charset="0"/>
                <a:cs typeface="Times New Roman" panose="02020603050405020304" pitchFamily="18" charset="0"/>
              </a:rPr>
              <a:t>The dataset is about 1000 rows.</a:t>
            </a:r>
          </a:p>
          <a:p>
            <a:pPr lvl="0"/>
            <a:r>
              <a:rPr lang="en-US" sz="5000" dirty="0" smtClean="0">
                <a:latin typeface="Times New Roman" panose="02020603050405020304" pitchFamily="18" charset="0"/>
                <a:cs typeface="Times New Roman" panose="02020603050405020304" pitchFamily="18" charset="0"/>
              </a:rPr>
              <a:t>The process done in dataset are remove duplicates, handled null values and checked the consistency of the data type.</a:t>
            </a:r>
            <a:endParaRPr lang="en-IN" sz="5000" dirty="0">
              <a:latin typeface="Times New Roman" panose="02020603050405020304" pitchFamily="18" charset="0"/>
              <a:cs typeface="Times New Roman" panose="02020603050405020304" pitchFamily="18" charset="0"/>
            </a:endParaRPr>
          </a:p>
          <a:p>
            <a:pPr lvl="0"/>
            <a:r>
              <a:rPr lang="en-US" sz="5000" dirty="0" smtClean="0">
                <a:latin typeface="Times New Roman" panose="02020603050405020304" pitchFamily="18" charset="0"/>
                <a:cs typeface="Times New Roman" panose="02020603050405020304" pitchFamily="18" charset="0"/>
              </a:rPr>
              <a:t>Performed suitable metrics.</a:t>
            </a:r>
          </a:p>
          <a:p>
            <a:pPr lvl="0"/>
            <a:r>
              <a:rPr lang="en-US" sz="5000" dirty="0" smtClean="0">
                <a:latin typeface="Times New Roman" panose="02020603050405020304" pitchFamily="18" charset="0"/>
                <a:cs typeface="Times New Roman" panose="02020603050405020304" pitchFamily="18" charset="0"/>
              </a:rPr>
              <a:t>Finally, the dataset is kept ready for importing into power BI desktop.</a:t>
            </a:r>
          </a:p>
          <a:p>
            <a:pPr lvl="0"/>
            <a:r>
              <a:rPr lang="en-US" sz="5000" dirty="0" smtClean="0">
                <a:latin typeface="Times New Roman" panose="02020603050405020304" pitchFamily="18" charset="0"/>
                <a:cs typeface="Times New Roman" panose="02020603050405020304" pitchFamily="18" charset="0"/>
              </a:rPr>
              <a:t>The </a:t>
            </a:r>
            <a:r>
              <a:rPr lang="en-US" sz="5000" dirty="0">
                <a:latin typeface="Times New Roman" panose="02020603050405020304" pitchFamily="18" charset="0"/>
                <a:cs typeface="Times New Roman" panose="02020603050405020304" pitchFamily="18" charset="0"/>
              </a:rPr>
              <a:t>Dashboard has been done in Power BI desktop.</a:t>
            </a:r>
            <a:endParaRPr lang="en-IN" sz="5000" dirty="0">
              <a:latin typeface="Times New Roman" panose="02020603050405020304" pitchFamily="18" charset="0"/>
              <a:cs typeface="Times New Roman" panose="02020603050405020304" pitchFamily="18" charset="0"/>
            </a:endParaRPr>
          </a:p>
          <a:p>
            <a:pPr lvl="0"/>
            <a:endParaRPr lang="en-US" dirty="0" smtClean="0"/>
          </a:p>
          <a:p>
            <a:pPr marL="0" indent="0">
              <a:buNone/>
            </a:pPr>
            <a:r>
              <a:rPr lang="en-US" dirty="0"/>
              <a:t> </a:t>
            </a:r>
            <a:endParaRPr lang="en-IN" dirty="0"/>
          </a:p>
          <a:p>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532951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SQL DATA TRANSFORMATION: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200" dirty="0">
                <a:latin typeface="Times New Roman" panose="02020603050405020304" pitchFamily="18" charset="0"/>
                <a:cs typeface="Times New Roman" panose="02020603050405020304" pitchFamily="18" charset="0"/>
              </a:rPr>
              <a:t>Updated inconsistent gender values for standardization.</a:t>
            </a:r>
          </a:p>
          <a:p>
            <a:r>
              <a:rPr lang="en-US" sz="2200" dirty="0">
                <a:latin typeface="Times New Roman" panose="02020603050405020304" pitchFamily="18" charset="0"/>
                <a:cs typeface="Times New Roman" panose="02020603050405020304" pitchFamily="18" charset="0"/>
              </a:rPr>
              <a:t>Used CASE statements to standardize city and state names.</a:t>
            </a:r>
          </a:p>
          <a:p>
            <a:r>
              <a:rPr lang="en-US" sz="2200" dirty="0">
                <a:latin typeface="Times New Roman" panose="02020603050405020304" pitchFamily="18" charset="0"/>
                <a:cs typeface="Times New Roman" panose="02020603050405020304" pitchFamily="18" charset="0"/>
              </a:rPr>
              <a:t>Identified duplicate records using GROUP BY and HAVING.</a:t>
            </a:r>
          </a:p>
          <a:p>
            <a:pPr>
              <a:lnSpc>
                <a:spcPct val="150000"/>
              </a:lnSpc>
            </a:pPr>
            <a:r>
              <a:rPr lang="en-US" sz="2200" dirty="0">
                <a:latin typeface="Times New Roman" panose="02020603050405020304" pitchFamily="18" charset="0"/>
                <a:cs typeface="Times New Roman" panose="02020603050405020304" pitchFamily="18" charset="0"/>
              </a:rPr>
              <a:t>Removed duplicates using DISTINCT queries.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325311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DASHBOARD</a:t>
            </a:r>
            <a:r>
              <a:rPr lang="en-US" dirty="0"/>
              <a:t>:</a:t>
            </a:r>
            <a:endParaRPr lang="en-IN"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4212" t="4525" r="18694" b="13261"/>
          <a:stretch/>
        </p:blipFill>
        <p:spPr>
          <a:xfrm>
            <a:off x="708339" y="1674253"/>
            <a:ext cx="11114467" cy="4855336"/>
          </a:xfrm>
          <a:prstGeom prst="rect">
            <a:avLst/>
          </a:prstGeom>
        </p:spPr>
      </p:pic>
    </p:spTree>
    <p:extLst>
      <p:ext uri="{BB962C8B-B14F-4D97-AF65-F5344CB8AC3E}">
        <p14:creationId xmlns:p14="http://schemas.microsoft.com/office/powerpoint/2010/main" val="25047785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CLINICAL INSIGHTS:</a:t>
            </a:r>
            <a:r>
              <a:rPr lang="en-US" dirty="0" smtClean="0"/>
              <a:t>-</a:t>
            </a:r>
            <a:endParaRPr lang="en-IN" dirty="0"/>
          </a:p>
        </p:txBody>
      </p:sp>
      <p:sp>
        <p:nvSpPr>
          <p:cNvPr id="3" name="Content Placeholder 2"/>
          <p:cNvSpPr>
            <a:spLocks noGrp="1"/>
          </p:cNvSpPr>
          <p:nvPr>
            <p:ph idx="1"/>
          </p:nvPr>
        </p:nvSpPr>
        <p:spPr/>
        <p:txBody>
          <a:bodyPr>
            <a:normAutofit/>
          </a:bodyPr>
          <a:lstStyle/>
          <a:p>
            <a:pPr algn="just">
              <a:lnSpc>
                <a:spcPct val="150000"/>
              </a:lnSpc>
            </a:pPr>
            <a:r>
              <a:rPr lang="en-US" dirty="0" smtClean="0"/>
              <a:t> </a:t>
            </a:r>
            <a:r>
              <a:rPr lang="en-US" sz="2600" dirty="0">
                <a:latin typeface="Times New Roman" panose="02020603050405020304" pitchFamily="18" charset="0"/>
                <a:cs typeface="Times New Roman" panose="02020603050405020304" pitchFamily="18" charset="0"/>
              </a:rPr>
              <a:t>Female patient proportion is slightly higher than male patients.</a:t>
            </a:r>
          </a:p>
          <a:p>
            <a:pPr algn="just">
              <a:lnSpc>
                <a:spcPct val="150000"/>
              </a:lnSpc>
            </a:pPr>
            <a:r>
              <a:rPr lang="en-US" sz="2600" dirty="0">
                <a:latin typeface="Times New Roman" panose="02020603050405020304" pitchFamily="18" charset="0"/>
                <a:cs typeface="Times New Roman" panose="02020603050405020304" pitchFamily="18" charset="0"/>
              </a:rPr>
              <a:t>Certain blood groups appear more frequently among patients.</a:t>
            </a:r>
          </a:p>
          <a:p>
            <a:pPr algn="just">
              <a:lnSpc>
                <a:spcPct val="150000"/>
              </a:lnSpc>
            </a:pPr>
            <a:r>
              <a:rPr lang="en-US" sz="2600" dirty="0">
                <a:latin typeface="Times New Roman" panose="02020603050405020304" pitchFamily="18" charset="0"/>
                <a:cs typeface="Times New Roman" panose="02020603050405020304" pitchFamily="18" charset="0"/>
              </a:rPr>
              <a:t>Doctor distribution across specializations is uneven.</a:t>
            </a:r>
          </a:p>
          <a:p>
            <a:pPr algn="just">
              <a:lnSpc>
                <a:spcPct val="150000"/>
              </a:lnSpc>
            </a:pPr>
            <a:r>
              <a:rPr lang="en-US" sz="2600" dirty="0">
                <a:latin typeface="Times New Roman" panose="02020603050405020304" pitchFamily="18" charset="0"/>
                <a:cs typeface="Times New Roman" panose="02020603050405020304" pitchFamily="18" charset="0"/>
              </a:rPr>
              <a:t>Hospital utilization indicates high patient demand</a:t>
            </a:r>
            <a:r>
              <a:rPr lang="en-US" sz="2600" dirty="0" smtClean="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36958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ACTION CAN BE TAKEN: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nSpc>
                <a:spcPct val="150000"/>
              </a:lnSpc>
            </a:pPr>
            <a:r>
              <a:rPr lang="en-US" sz="2200" dirty="0">
                <a:latin typeface="Times New Roman" panose="02020603050405020304" pitchFamily="18" charset="0"/>
                <a:cs typeface="Times New Roman" panose="02020603050405020304" pitchFamily="18" charset="0"/>
              </a:rPr>
              <a:t>Expand women-focused healthcare services.</a:t>
            </a:r>
          </a:p>
          <a:p>
            <a:pPr>
              <a:lnSpc>
                <a:spcPct val="150000"/>
              </a:lnSpc>
            </a:pPr>
            <a:r>
              <a:rPr lang="en-US" sz="2200" dirty="0">
                <a:latin typeface="Times New Roman" panose="02020603050405020304" pitchFamily="18" charset="0"/>
                <a:cs typeface="Times New Roman" panose="02020603050405020304" pitchFamily="18" charset="0"/>
              </a:rPr>
              <a:t>Maintain strong blood bank inventory for emergency care.</a:t>
            </a:r>
          </a:p>
          <a:p>
            <a:pPr>
              <a:lnSpc>
                <a:spcPct val="150000"/>
              </a:lnSpc>
            </a:pPr>
            <a:r>
              <a:rPr lang="en-US" sz="2200" dirty="0">
                <a:latin typeface="Times New Roman" panose="02020603050405020304" pitchFamily="18" charset="0"/>
                <a:cs typeface="Times New Roman" panose="02020603050405020304" pitchFamily="18" charset="0"/>
              </a:rPr>
              <a:t>Balance doctor workload across departments.</a:t>
            </a:r>
          </a:p>
          <a:p>
            <a:pPr>
              <a:lnSpc>
                <a:spcPct val="150000"/>
              </a:lnSpc>
            </a:pPr>
            <a:r>
              <a:rPr lang="en-US" sz="2200" dirty="0">
                <a:latin typeface="Times New Roman" panose="02020603050405020304" pitchFamily="18" charset="0"/>
                <a:cs typeface="Times New Roman" panose="02020603050405020304" pitchFamily="18" charset="0"/>
              </a:rPr>
              <a:t>Increase hospital bed capacity and ICU </a:t>
            </a:r>
            <a:r>
              <a:rPr lang="en-US" sz="2200" dirty="0" smtClean="0">
                <a:latin typeface="Times New Roman" panose="02020603050405020304" pitchFamily="18" charset="0"/>
                <a:cs typeface="Times New Roman" panose="02020603050405020304" pitchFamily="18" charset="0"/>
              </a:rPr>
              <a:t>infrastructure.</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934041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CONCLUSION</a:t>
            </a:r>
            <a:r>
              <a:rPr lang="en-US"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nSpc>
                <a:spcPct val="150000"/>
              </a:lnSpc>
            </a:pPr>
            <a:r>
              <a:rPr lang="en-US" sz="2200" dirty="0" smtClean="0">
                <a:latin typeface="Times New Roman" panose="02020603050405020304" pitchFamily="18" charset="0"/>
                <a:cs typeface="Times New Roman" panose="02020603050405020304" pitchFamily="18" charset="0"/>
              </a:rPr>
              <a:t>Finally, this project </a:t>
            </a:r>
            <a:r>
              <a:rPr lang="en-US" sz="2200" dirty="0">
                <a:latin typeface="Times New Roman" panose="02020603050405020304" pitchFamily="18" charset="0"/>
                <a:cs typeface="Times New Roman" panose="02020603050405020304" pitchFamily="18" charset="0"/>
              </a:rPr>
              <a:t>provides valuable insights into patient demographics, hospital capacity and doctor specialization. </a:t>
            </a:r>
            <a:endParaRPr lang="en-US" sz="2200" dirty="0" smtClean="0">
              <a:latin typeface="Times New Roman" panose="02020603050405020304" pitchFamily="18" charset="0"/>
              <a:cs typeface="Times New Roman" panose="02020603050405020304" pitchFamily="18" charset="0"/>
            </a:endParaRPr>
          </a:p>
          <a:p>
            <a:pPr>
              <a:lnSpc>
                <a:spcPct val="150000"/>
              </a:lnSpc>
            </a:pPr>
            <a:r>
              <a:rPr lang="en-US" sz="2200" dirty="0" smtClean="0">
                <a:latin typeface="Times New Roman" panose="02020603050405020304" pitchFamily="18" charset="0"/>
                <a:cs typeface="Times New Roman" panose="02020603050405020304" pitchFamily="18" charset="0"/>
              </a:rPr>
              <a:t>By </a:t>
            </a:r>
            <a:r>
              <a:rPr lang="en-US" sz="2200" dirty="0">
                <a:latin typeface="Times New Roman" panose="02020603050405020304" pitchFamily="18" charset="0"/>
                <a:cs typeface="Times New Roman" panose="02020603050405020304" pitchFamily="18" charset="0"/>
              </a:rPr>
              <a:t>using interactive visualizations, decision-makers can improve resource allocation and optimize healthcare services. </a:t>
            </a:r>
            <a:endParaRPr lang="en-US" sz="2200" dirty="0" smtClean="0">
              <a:latin typeface="Times New Roman" panose="02020603050405020304" pitchFamily="18" charset="0"/>
              <a:cs typeface="Times New Roman" panose="02020603050405020304" pitchFamily="18" charset="0"/>
            </a:endParaRPr>
          </a:p>
          <a:p>
            <a:pPr>
              <a:lnSpc>
                <a:spcPct val="150000"/>
              </a:lnSpc>
            </a:pPr>
            <a:r>
              <a:rPr lang="en-US" sz="2200" dirty="0" smtClean="0">
                <a:latin typeface="Times New Roman" panose="02020603050405020304" pitchFamily="18" charset="0"/>
                <a:cs typeface="Times New Roman" panose="02020603050405020304" pitchFamily="18" charset="0"/>
              </a:rPr>
              <a:t>Overall</a:t>
            </a:r>
            <a:r>
              <a:rPr lang="en-US" sz="2200" dirty="0">
                <a:latin typeface="Times New Roman" panose="02020603050405020304" pitchFamily="18" charset="0"/>
                <a:cs typeface="Times New Roman" panose="02020603050405020304" pitchFamily="18" charset="0"/>
              </a:rPr>
              <a:t>, this project demonstrates how data analytics support better clinical insights</a:t>
            </a:r>
            <a:r>
              <a:rPr lang="en-US" sz="2200" dirty="0" smtClean="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177462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a:xfrm>
            <a:off x="1141413" y="618517"/>
            <a:ext cx="9905998" cy="5147283"/>
          </a:xfrm>
        </p:spPr>
        <p:txBody>
          <a:bodyPr>
            <a:normAutofit/>
          </a:bodyPr>
          <a:lstStyle/>
          <a:p>
            <a:pPr algn="ctr"/>
            <a:r>
              <a:rPr lang="en-US" sz="4800" b="1" dirty="0" smtClean="0">
                <a:latin typeface="Times New Roman" panose="02020603050405020304" pitchFamily="18" charset="0"/>
                <a:cs typeface="Times New Roman" panose="02020603050405020304" pitchFamily="18" charset="0"/>
              </a:rPr>
              <a:t>THANK YOU</a:t>
            </a:r>
            <a:endParaRPr lang="en-IN"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58128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683</TotalTime>
  <Words>356</Words>
  <Application>Microsoft Office PowerPoint</Application>
  <PresentationFormat>Widescreen</PresentationFormat>
  <Paragraphs>43</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Algerian</vt:lpstr>
      <vt:lpstr>Arial</vt:lpstr>
      <vt:lpstr>Times New Roman</vt:lpstr>
      <vt:lpstr>Trebuchet MS</vt:lpstr>
      <vt:lpstr>Tw Cen MT</vt:lpstr>
      <vt:lpstr>Circuit</vt:lpstr>
      <vt:lpstr>HEALTHCARE MANAGEMENT</vt:lpstr>
      <vt:lpstr>AIM:-</vt:lpstr>
      <vt:lpstr>INTRODUCTION:-</vt:lpstr>
      <vt:lpstr>Dataset before cleaning:-</vt:lpstr>
      <vt:lpstr>DATASET AFTER CLEANING:</vt:lpstr>
      <vt:lpstr>DATASET CLEANING process:-</vt:lpstr>
      <vt:lpstr>SQL DATA TRANSFORMATION:</vt:lpstr>
      <vt:lpstr>DASHBOARD:</vt:lpstr>
      <vt:lpstr>CLINICAL INSIGHTS:-</vt:lpstr>
      <vt:lpstr>ACTION CAN BE TAKEN:</vt:lpstr>
      <vt:lpstr>CONCLUSION:</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sales transaction</dc:title>
  <dc:creator>Microsoft account</dc:creator>
  <cp:lastModifiedBy>Microsoft account</cp:lastModifiedBy>
  <cp:revision>50</cp:revision>
  <dcterms:created xsi:type="dcterms:W3CDTF">2026-01-18T09:31:32Z</dcterms:created>
  <dcterms:modified xsi:type="dcterms:W3CDTF">2026-03-16T05:45:57Z</dcterms:modified>
</cp:coreProperties>
</file>